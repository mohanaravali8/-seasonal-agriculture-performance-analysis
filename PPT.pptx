
<file path=[Content_Types].xml><?xml version="1.0" encoding="utf-8"?>
<Types xmlns="http://schemas.openxmlformats.org/package/2006/content-types">
  <Default Extension="jfif" ContentType="image/jpe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44" autoAdjust="0"/>
    <p:restoredTop sz="95033" autoAdjust="0"/>
  </p:normalViewPr>
  <p:slideViewPr>
    <p:cSldViewPr snapToGrid="0">
      <p:cViewPr>
        <p:scale>
          <a:sx n="125" d="100"/>
          <a:sy n="125" d="100"/>
        </p:scale>
        <p:origin x="-58" y="19"/>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9/11/2026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9/11/2026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9/11/2026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xmlns="">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xmlns="">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xmlns="">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9/11/2026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579120" y="3583914"/>
            <a:ext cx="8241792" cy="861497"/>
          </a:xfrm>
        </p:spPr>
        <p:txBody>
          <a:bodyPr vert="horz" lIns="91440" tIns="45720" rIns="91440" bIns="45720" rtlCol="0" anchor="t">
            <a:normAutofit/>
          </a:bodyPr>
          <a:lstStyle/>
          <a:p>
            <a:r>
              <a:rPr lang="en-US" b="0" dirty="0">
                <a:solidFill>
                  <a:schemeClr val="tx1"/>
                </a:solidFill>
              </a:rPr>
              <a:t>Student </a:t>
            </a:r>
            <a:r>
              <a:rPr lang="en-US" b="0" dirty="0" err="1" smtClean="0">
                <a:solidFill>
                  <a:schemeClr val="tx1"/>
                </a:solidFill>
              </a:rPr>
              <a:t>Name:</a:t>
            </a:r>
            <a:r>
              <a:rPr lang="en-US" b="0" dirty="0" err="1" smtClean="0">
                <a:solidFill>
                  <a:schemeClr val="tx1"/>
                </a:solidFill>
                <a:latin typeface="Times New Roman" panose="02020603050405020304" pitchFamily="18" charset="0"/>
                <a:cs typeface="Times New Roman" panose="02020603050405020304" pitchFamily="18" charset="0"/>
              </a:rPr>
              <a:t>Modugumudi</a:t>
            </a:r>
            <a:r>
              <a:rPr lang="en-US" b="0" dirty="0" smtClean="0">
                <a:solidFill>
                  <a:schemeClr val="tx1"/>
                </a:solidFill>
                <a:latin typeface="Times New Roman" panose="02020603050405020304" pitchFamily="18" charset="0"/>
                <a:cs typeface="Times New Roman" panose="02020603050405020304" pitchFamily="18" charset="0"/>
              </a:rPr>
              <a:t> </a:t>
            </a:r>
            <a:r>
              <a:rPr lang="en-US" b="0" dirty="0" err="1" smtClean="0">
                <a:solidFill>
                  <a:schemeClr val="tx1"/>
                </a:solidFill>
                <a:latin typeface="Times New Roman" panose="02020603050405020304" pitchFamily="18" charset="0"/>
                <a:cs typeface="Times New Roman" panose="02020603050405020304" pitchFamily="18" charset="0"/>
              </a:rPr>
              <a:t>Mohana</a:t>
            </a:r>
            <a:r>
              <a:rPr lang="en-US" b="0" dirty="0" smtClean="0">
                <a:solidFill>
                  <a:schemeClr val="tx1"/>
                </a:solidFill>
                <a:latin typeface="Times New Roman" panose="02020603050405020304" pitchFamily="18" charset="0"/>
                <a:cs typeface="Times New Roman" panose="02020603050405020304" pitchFamily="18" charset="0"/>
              </a:rPr>
              <a:t> </a:t>
            </a:r>
            <a:r>
              <a:rPr lang="en-US" b="0" dirty="0" err="1" smtClean="0">
                <a:solidFill>
                  <a:schemeClr val="tx1"/>
                </a:solidFill>
                <a:latin typeface="Times New Roman" panose="02020603050405020304" pitchFamily="18" charset="0"/>
                <a:cs typeface="Times New Roman" panose="02020603050405020304" pitchFamily="18" charset="0"/>
              </a:rPr>
              <a:t>Ravali</a:t>
            </a:r>
            <a:r>
              <a:rPr lang="en-US" b="0" dirty="0" smtClean="0">
                <a:solidFill>
                  <a:schemeClr val="tx1"/>
                </a:solidFill>
              </a:rPr>
              <a:t> </a:t>
            </a:r>
          </a:p>
          <a:p>
            <a:r>
              <a:rPr lang="en-US" b="0" dirty="0" smtClean="0">
                <a:solidFill>
                  <a:schemeClr val="tx1"/>
                </a:solidFill>
              </a:rPr>
              <a:t>Collage </a:t>
            </a:r>
            <a:r>
              <a:rPr lang="en-US" b="0" dirty="0" err="1" smtClean="0">
                <a:solidFill>
                  <a:schemeClr val="tx1"/>
                </a:solidFill>
              </a:rPr>
              <a:t>Name:</a:t>
            </a:r>
            <a:r>
              <a:rPr lang="en-US" b="0" dirty="0" err="1" smtClean="0">
                <a:solidFill>
                  <a:schemeClr val="tx1"/>
                </a:solidFill>
              </a:rPr>
              <a:t>Seshadri</a:t>
            </a:r>
            <a:r>
              <a:rPr lang="en-US" b="0" dirty="0" smtClean="0">
                <a:solidFill>
                  <a:schemeClr val="tx1"/>
                </a:solidFill>
              </a:rPr>
              <a:t> Rao </a:t>
            </a:r>
            <a:r>
              <a:rPr lang="en-US" b="0" dirty="0" err="1" smtClean="0">
                <a:solidFill>
                  <a:schemeClr val="tx1"/>
                </a:solidFill>
              </a:rPr>
              <a:t>Gudlavalleru</a:t>
            </a:r>
            <a:r>
              <a:rPr lang="en-US" b="0" dirty="0" smtClean="0">
                <a:solidFill>
                  <a:schemeClr val="tx1"/>
                </a:solidFill>
              </a:rPr>
              <a:t> Engineering College</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675956" y="2712721"/>
            <a:ext cx="9120315" cy="512028"/>
          </a:xfrm>
        </p:spPr>
        <p:txBody>
          <a:bodyPr>
            <a:normAutofit fontScale="90000"/>
          </a:bodyPr>
          <a:lstStyle/>
          <a:p>
            <a:r>
              <a:rPr lang="en-GB" sz="3200" dirty="0"/>
              <a:t>Project Title </a:t>
            </a:r>
            <a:r>
              <a:rPr lang="en-GB" sz="3200" dirty="0" smtClean="0"/>
              <a:t>-</a:t>
            </a:r>
            <a:r>
              <a:rPr lang="en-IN" sz="2700" dirty="0"/>
              <a:t>Seasonal Agriculture Performance Analysis</a:t>
            </a:r>
            <a:endParaRPr lang="en-IN" sz="2700"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957406" y="4576469"/>
            <a:ext cx="6491906" cy="369332"/>
          </a:xfrm>
          <a:prstGeom prst="rect">
            <a:avLst/>
          </a:prstGeom>
          <a:noFill/>
        </p:spPr>
        <p:txBody>
          <a:bodyPr wrap="square" rtlCol="0">
            <a:spAutoFit/>
          </a:bodyPr>
          <a:lstStyle/>
          <a:p>
            <a:r>
              <a:rPr lang="en-US" b="1" dirty="0" smtClean="0"/>
              <a:t>AICTE </a:t>
            </a:r>
            <a:r>
              <a:rPr lang="en-US" b="1" dirty="0"/>
              <a:t>STU ID : </a:t>
            </a:r>
            <a:r>
              <a:rPr lang="en-IN" sz="1600" dirty="0"/>
              <a:t>STU699084d162a4a1771078865</a:t>
            </a:r>
            <a:endParaRPr lang="en-US" sz="1600"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55000" lnSpcReduction="20000"/>
          </a:bodyPr>
          <a:lstStyle/>
          <a:p>
            <a:pPr>
              <a:lnSpc>
                <a:spcPct val="15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Rectangle 1"/>
          <p:cNvSpPr/>
          <p:nvPr/>
        </p:nvSpPr>
        <p:spPr>
          <a:xfrm>
            <a:off x="467359" y="1877568"/>
            <a:ext cx="8412480" cy="3139321"/>
          </a:xfrm>
          <a:prstGeom prst="rect">
            <a:avLst/>
          </a:prstGeom>
        </p:spPr>
        <p:txBody>
          <a:bodyPr wrap="square">
            <a:spAutoFit/>
          </a:bodyPr>
          <a:lstStyle/>
          <a:p>
            <a:r>
              <a:rPr lang="en-US" b="1" dirty="0"/>
              <a:t>Seasonal Agriculture Performance Analysis</a:t>
            </a:r>
            <a:r>
              <a:rPr lang="en-US" dirty="0"/>
              <a:t> is a data analysis project that studies agricultural production and crop yield across different crops, seasons, and regions. The project uses historical agricultural data and applies data preprocessing, exploratory data analysis, statistical analysis, and visualization techniques to identify important patterns and trends. Python libraries such as </a:t>
            </a:r>
            <a:r>
              <a:rPr lang="en-US" b="1" dirty="0"/>
              <a:t>Pandas, </a:t>
            </a:r>
            <a:r>
              <a:rPr lang="en-US" b="1" dirty="0" err="1"/>
              <a:t>NumPy</a:t>
            </a:r>
            <a:r>
              <a:rPr lang="en-US" b="1" dirty="0"/>
              <a:t>, </a:t>
            </a:r>
            <a:r>
              <a:rPr lang="en-US" b="1" dirty="0" err="1"/>
              <a:t>Matplotlib</a:t>
            </a:r>
            <a:r>
              <a:rPr lang="en-US" b="1" dirty="0"/>
              <a:t>, and </a:t>
            </a:r>
            <a:r>
              <a:rPr lang="en-US" b="1" dirty="0" err="1"/>
              <a:t>Seaborn</a:t>
            </a:r>
            <a:r>
              <a:rPr lang="en-US" dirty="0"/>
              <a:t> are used for data processing and visualization. The system compares crop-wise and season-wise performance, analyzes average yield and production trends, and identifies high- and low-performing crops. The generated insights can help </a:t>
            </a:r>
            <a:r>
              <a:rPr lang="en-US" b="1" dirty="0"/>
              <a:t>farmers, agricultural planners, researchers, and policymakers</a:t>
            </a:r>
            <a:r>
              <a:rPr lang="en-US" dirty="0"/>
              <a:t> make better data-driven decisions regarding crop selection and seasonal agricultural planning.</a:t>
            </a: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721359" y="1991360"/>
            <a:ext cx="7904481" cy="3990023"/>
          </a:xfrm>
        </p:spPr>
        <p:txBody>
          <a:bodyPr>
            <a:normAutofit fontScale="55000" lnSpcReduction="20000"/>
          </a:bodyPr>
          <a:lstStyle/>
          <a:p>
            <a:r>
              <a:rPr lang="en-US" sz="3600" b="1" dirty="0"/>
              <a:t>Farmers</a:t>
            </a:r>
            <a:r>
              <a:rPr lang="en-US" sz="3600" dirty="0"/>
              <a:t> – To understand seasonal crop performance and identify better-performing seasons and crops. </a:t>
            </a:r>
          </a:p>
          <a:p>
            <a:r>
              <a:rPr lang="en-US" sz="3600" b="1" dirty="0"/>
              <a:t>Agricultural Planners</a:t>
            </a:r>
            <a:r>
              <a:rPr lang="en-US" sz="3600" dirty="0"/>
              <a:t> – To use seasonal trends and agricultural data for better planning and decision-making. </a:t>
            </a:r>
          </a:p>
          <a:p>
            <a:r>
              <a:rPr lang="en-US" sz="3600" b="1" dirty="0"/>
              <a:t>Agricultural Researchers</a:t>
            </a:r>
            <a:r>
              <a:rPr lang="en-US" sz="3600" dirty="0"/>
              <a:t> – To study relationships between seasons, environmental conditions, resources, and crop performance. </a:t>
            </a:r>
          </a:p>
          <a:p>
            <a:r>
              <a:rPr lang="en-US" sz="3600" b="1" dirty="0"/>
              <a:t>Agricultural Organizations/Government Departments</a:t>
            </a:r>
            <a:r>
              <a:rPr lang="en-US" sz="3600" dirty="0"/>
              <a:t> – To support evidence-based agricultural planning and policies. </a:t>
            </a:r>
          </a:p>
          <a:p>
            <a:r>
              <a:rPr lang="en-US" sz="3600" b="1" dirty="0"/>
              <a:t>Students and Data Analysts</a:t>
            </a:r>
            <a:r>
              <a:rPr lang="en-US" sz="3600" dirty="0"/>
              <a:t> – To explore agricultural datasets and understand seasonal patterns through data analytics.</a:t>
            </a:r>
            <a:endParaRPr lang="en-US" sz="3600" dirty="0"/>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583432"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390618" y="1432560"/>
            <a:ext cx="9027702" cy="5243448"/>
          </a:xfrm>
        </p:spPr>
        <p:txBody>
          <a:bodyPr/>
          <a:lstStyle/>
          <a:p>
            <a:pPr lvl="3">
              <a:lnSpc>
                <a:spcPct val="150000"/>
              </a:lnSpc>
            </a:pPr>
            <a:r>
              <a:rPr lang="en-IN" dirty="0" smtClean="0"/>
              <a:t>Python</a:t>
            </a:r>
          </a:p>
          <a:p>
            <a:pPr lvl="3">
              <a:lnSpc>
                <a:spcPct val="150000"/>
              </a:lnSpc>
            </a:pPr>
            <a:r>
              <a:rPr lang="en-IN" dirty="0" smtClean="0"/>
              <a:t> </a:t>
            </a:r>
            <a:r>
              <a:rPr lang="en-IN" dirty="0"/>
              <a:t>Google </a:t>
            </a:r>
            <a:r>
              <a:rPr lang="en-IN" dirty="0" err="1" smtClean="0"/>
              <a:t>Colab</a:t>
            </a:r>
            <a:endParaRPr lang="en-IN" dirty="0" smtClean="0"/>
          </a:p>
          <a:p>
            <a:pPr lvl="3">
              <a:lnSpc>
                <a:spcPct val="150000"/>
              </a:lnSpc>
            </a:pPr>
            <a:r>
              <a:rPr lang="en-IN" dirty="0" smtClean="0"/>
              <a:t> Pandas </a:t>
            </a:r>
          </a:p>
          <a:p>
            <a:pPr lvl="3">
              <a:lnSpc>
                <a:spcPct val="150000"/>
              </a:lnSpc>
            </a:pPr>
            <a:r>
              <a:rPr lang="en-IN" dirty="0" err="1" smtClean="0"/>
              <a:t>NumPy</a:t>
            </a:r>
            <a:endParaRPr lang="en-IN" dirty="0" smtClean="0"/>
          </a:p>
          <a:p>
            <a:pPr lvl="3">
              <a:lnSpc>
                <a:spcPct val="150000"/>
              </a:lnSpc>
            </a:pPr>
            <a:r>
              <a:rPr lang="en-IN" dirty="0" smtClean="0"/>
              <a:t> </a:t>
            </a:r>
            <a:r>
              <a:rPr lang="en-IN" dirty="0" err="1" smtClean="0"/>
              <a:t>Matplotlib</a:t>
            </a:r>
            <a:endParaRPr lang="en-IN" dirty="0" smtClean="0"/>
          </a:p>
          <a:p>
            <a:pPr lvl="3">
              <a:lnSpc>
                <a:spcPct val="150000"/>
              </a:lnSpc>
            </a:pPr>
            <a:r>
              <a:rPr lang="en-IN" dirty="0" smtClean="0"/>
              <a:t> </a:t>
            </a:r>
            <a:r>
              <a:rPr lang="en-IN" dirty="0" err="1" smtClean="0"/>
              <a:t>Seaborn</a:t>
            </a:r>
            <a:endParaRPr lang="en-IN" dirty="0" smtClean="0"/>
          </a:p>
          <a:p>
            <a:pPr lvl="3">
              <a:lnSpc>
                <a:spcPct val="150000"/>
              </a:lnSpc>
            </a:pPr>
            <a:r>
              <a:rPr lang="en-IN" dirty="0" smtClean="0"/>
              <a:t>CSV</a:t>
            </a:r>
          </a:p>
          <a:p>
            <a:pPr lvl="3">
              <a:lnSpc>
                <a:spcPct val="150000"/>
              </a:lnSpc>
            </a:pPr>
            <a:r>
              <a:rPr lang="en-IN" dirty="0" err="1" smtClean="0"/>
              <a:t>Jupyter</a:t>
            </a:r>
            <a:r>
              <a:rPr lang="en-IN" dirty="0" smtClean="0"/>
              <a:t> Notebook</a:t>
            </a:r>
            <a:endParaRPr lang="en-IN" dirty="0"/>
          </a:p>
          <a:p>
            <a:pPr lvl="3">
              <a:lnSpc>
                <a:spcPct val="150000"/>
              </a:lnSpc>
            </a:pPr>
            <a:r>
              <a:rPr lang="en-IN" dirty="0" smtClean="0"/>
              <a:t> GitHub</a:t>
            </a:r>
            <a:endParaRPr lang="en-IN" dirty="0"/>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animEffect transition="in" filter="fade">
                                      <p:cBhvr>
                                        <p:cTn id="49" dur="1000"/>
                                        <p:tgtEl>
                                          <p:spTgt spid="7">
                                            <p:txEl>
                                              <p:pRg st="7" end="7"/>
                                            </p:txEl>
                                          </p:spTgt>
                                        </p:tgtEl>
                                      </p:cBhvr>
                                    </p:animEffect>
                                    <p:anim calcmode="lin" valueType="num">
                                      <p:cBhvr>
                                        <p:cTn id="50"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7" end="7"/>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7">
                                            <p:txEl>
                                              <p:pRg st="8" end="8"/>
                                            </p:txEl>
                                          </p:spTgt>
                                        </p:tgtEl>
                                        <p:attrNameLst>
                                          <p:attrName>style.visibility</p:attrName>
                                        </p:attrNameLst>
                                      </p:cBhvr>
                                      <p:to>
                                        <p:strVal val="visible"/>
                                      </p:to>
                                    </p:set>
                                    <p:animEffect transition="in" filter="fade">
                                      <p:cBhvr>
                                        <p:cTn id="54" dur="1000"/>
                                        <p:tgtEl>
                                          <p:spTgt spid="7">
                                            <p:txEl>
                                              <p:pRg st="8" end="8"/>
                                            </p:txEl>
                                          </p:spTgt>
                                        </p:tgtEl>
                                      </p:cBhvr>
                                    </p:animEffect>
                                    <p:anim calcmode="lin" valueType="num">
                                      <p:cBhvr>
                                        <p:cTn id="55"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p:cNvSpPr>
            <a:spLocks noGrp="1"/>
          </p:cNvSpPr>
          <p:nvPr>
            <p:ph type="body" sz="quarter" idx="12"/>
          </p:nvPr>
        </p:nvSpPr>
        <p:spPr/>
        <p:txBody>
          <a:bodyPr/>
          <a:lstStyle/>
          <a:p>
            <a:endParaRPr lang="en-IN"/>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1668" y="1435390"/>
            <a:ext cx="8755380" cy="4193197"/>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971" y="1275371"/>
            <a:ext cx="8653249" cy="501328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40" y="1275371"/>
            <a:ext cx="7962900" cy="389547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79" y="1275371"/>
            <a:ext cx="7192603" cy="372862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632" y="1275371"/>
            <a:ext cx="8205216" cy="517551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785684" y="370589"/>
            <a:ext cx="7297611" cy="4615939"/>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0"/>
            <a:ext cx="7524570" cy="3369781"/>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Rectangle 3"/>
          <p:cNvSpPr>
            <a:spLocks noChangeArrowheads="1"/>
          </p:cNvSpPr>
          <p:nvPr/>
        </p:nvSpPr>
        <p:spPr bwMode="auto">
          <a:xfrm>
            <a:off x="743712" y="1335024"/>
            <a:ext cx="7585040" cy="7243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tabLst/>
            </a:pPr>
            <a:r>
              <a:rPr kumimoji="0" lang="en-US" altLang="en-US" sz="1800" b="1" i="0" u="none" strike="noStrike" cap="none" normalizeH="0" baseline="0" dirty="0" smtClean="0">
                <a:ln>
                  <a:noFill/>
                </a:ln>
                <a:solidFill>
                  <a:schemeClr val="tx1"/>
                </a:solidFill>
                <a:effectLst/>
                <a:latin typeface="Arial" charset="0"/>
                <a:cs typeface="Arial" charset="0"/>
              </a:rPr>
              <a:t>Crop Yield Prediction:</a:t>
            </a:r>
            <a:r>
              <a:rPr kumimoji="0" lang="en-US" altLang="en-US" sz="1800" b="0" i="0" u="none" strike="noStrike" cap="none" normalizeH="0" baseline="0" dirty="0" smtClean="0">
                <a:ln>
                  <a:noFill/>
                </a:ln>
                <a:solidFill>
                  <a:schemeClr val="tx1"/>
                </a:solidFill>
                <a:effectLst/>
                <a:latin typeface="Arial" charset="0"/>
                <a:cs typeface="Arial" charset="0"/>
              </a:rPr>
              <a:t> Develop machine learning models to predict crop yield based on historical and environmental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charset="0"/>
                <a:cs typeface="Arial" charset="0"/>
              </a:rPr>
              <a:t>Weather Integration:</a:t>
            </a:r>
            <a:r>
              <a:rPr kumimoji="0" lang="en-US" altLang="en-US" sz="1800" b="0" i="0" u="none" strike="noStrike" cap="none" normalizeH="0" baseline="0" dirty="0" smtClean="0">
                <a:ln>
                  <a:noFill/>
                </a:ln>
                <a:solidFill>
                  <a:schemeClr val="tx1"/>
                </a:solidFill>
                <a:effectLst/>
                <a:latin typeface="Arial" charset="0"/>
                <a:cs typeface="Arial" charset="0"/>
              </a:rPr>
              <a:t> Integrate real-time weather data such as temperature, rainfall, humidity, and soil conditions for more accurate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charset="0"/>
                <a:cs typeface="Arial" charset="0"/>
              </a:rPr>
              <a:t>Crop Recommendation:</a:t>
            </a:r>
            <a:r>
              <a:rPr kumimoji="0" lang="en-US" altLang="en-US" sz="1800" b="0" i="0" u="none" strike="noStrike" cap="none" normalizeH="0" baseline="0" dirty="0" smtClean="0">
                <a:ln>
                  <a:noFill/>
                </a:ln>
                <a:solidFill>
                  <a:schemeClr val="tx1"/>
                </a:solidFill>
                <a:effectLst/>
                <a:latin typeface="Arial" charset="0"/>
                <a:cs typeface="Arial" charset="0"/>
              </a:rPr>
              <a:t> Recommend suitable crops based on season, soil conditions, location, and expected yield.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charset="0"/>
                <a:cs typeface="Arial" charset="0"/>
              </a:rPr>
              <a:t>Real-Time Monitoring:</a:t>
            </a:r>
            <a:r>
              <a:rPr kumimoji="0" lang="en-US" altLang="en-US" sz="1800" b="0" i="0" u="none" strike="noStrike" cap="none" normalizeH="0" baseline="0" dirty="0" smtClean="0">
                <a:ln>
                  <a:noFill/>
                </a:ln>
                <a:solidFill>
                  <a:schemeClr val="tx1"/>
                </a:solidFill>
                <a:effectLst/>
                <a:latin typeface="Arial" charset="0"/>
                <a:cs typeface="Arial" charset="0"/>
              </a:rPr>
              <a:t> Connect </a:t>
            </a:r>
            <a:r>
              <a:rPr kumimoji="0" lang="en-US" altLang="en-US" sz="1800" b="0" i="0" u="none" strike="noStrike" cap="none" normalizeH="0" baseline="0" dirty="0" err="1" smtClean="0">
                <a:ln>
                  <a:noFill/>
                </a:ln>
                <a:solidFill>
                  <a:schemeClr val="tx1"/>
                </a:solidFill>
                <a:effectLst/>
                <a:latin typeface="Arial" charset="0"/>
                <a:cs typeface="Arial" charset="0"/>
              </a:rPr>
              <a:t>IoT</a:t>
            </a:r>
            <a:r>
              <a:rPr kumimoji="0" lang="en-US" altLang="en-US" sz="1800" b="0" i="0" u="none" strike="noStrike" cap="none" normalizeH="0" baseline="0" dirty="0" smtClean="0">
                <a:ln>
                  <a:noFill/>
                </a:ln>
                <a:solidFill>
                  <a:schemeClr val="tx1"/>
                </a:solidFill>
                <a:effectLst/>
                <a:latin typeface="Arial" charset="0"/>
                <a:cs typeface="Arial" charset="0"/>
              </a:rPr>
              <a:t> sensors to monitor soil moisture, temperature, humidity, and other agricultural parameters.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charset="0"/>
                <a:cs typeface="Arial" charset="0"/>
              </a:rPr>
              <a:t>Disease Detection:</a:t>
            </a:r>
            <a:r>
              <a:rPr kumimoji="0" lang="en-US" altLang="en-US" sz="1800" b="0" i="0" u="none" strike="noStrike" cap="none" normalizeH="0" baseline="0" dirty="0" smtClean="0">
                <a:ln>
                  <a:noFill/>
                </a:ln>
                <a:solidFill>
                  <a:schemeClr val="tx1"/>
                </a:solidFill>
                <a:effectLst/>
                <a:latin typeface="Arial" charset="0"/>
                <a:cs typeface="Arial" charset="0"/>
              </a:rPr>
              <a:t> Add image-based crop disease detection using deep learning and computer vision.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charset="0"/>
                <a:cs typeface="Arial" charset="0"/>
              </a:rPr>
              <a:t>Market Price Prediction:</a:t>
            </a:r>
            <a:r>
              <a:rPr kumimoji="0" lang="en-US" altLang="en-US" sz="1800" b="0" i="0" u="none" strike="noStrike" cap="none" normalizeH="0" baseline="0" dirty="0" smtClean="0">
                <a:ln>
                  <a:noFill/>
                </a:ln>
                <a:solidFill>
                  <a:schemeClr val="tx1"/>
                </a:solidFill>
                <a:effectLst/>
                <a:latin typeface="Arial" charset="0"/>
                <a:cs typeface="Arial" charset="0"/>
              </a:rPr>
              <a:t> Analyze historical market data to predict crop prices and help farmers make better selling decisions.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8743887"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p:cNvSpPr/>
          <p:nvPr/>
        </p:nvSpPr>
        <p:spPr>
          <a:xfrm>
            <a:off x="1037492" y="1275371"/>
            <a:ext cx="8106508" cy="646331"/>
          </a:xfrm>
          <a:prstGeom prst="rect">
            <a:avLst/>
          </a:prstGeom>
        </p:spPr>
        <p:txBody>
          <a:bodyPr wrap="square">
            <a:spAutoFit/>
          </a:bodyPr>
          <a:lstStyle/>
          <a:p>
            <a:r>
              <a:rPr lang="en-IN" dirty="0"/>
              <a:t>https://github.com/mohanaravali8/-Seasonal-Agriculture-Performance-Analysis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endParaRPr lang="en-IN" sz="3200" dirty="0"/>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0705" y="1658113"/>
            <a:ext cx="7083551" cy="369417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2050" name="Picture 2" descr="Thank you Images - Free Download on Magnific (formerly Freepi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3365" y="1467021"/>
            <a:ext cx="7048500" cy="4991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documentManagement/types"/>
    <ds:schemaRef ds:uri="http://purl.org/dc/elements/1.1/"/>
    <ds:schemaRef ds:uri="http://schemas.microsoft.com/office/2006/metadata/properties"/>
    <ds:schemaRef ds:uri="http://purl.org/dc/terms/"/>
    <ds:schemaRef ds:uri="http://schemas.openxmlformats.org/package/2006/metadata/core-properties"/>
    <ds:schemaRef ds:uri="16c05727-aa75-4e4a-9b5f-8a80a1165891"/>
    <ds:schemaRef ds:uri="http://purl.org/dc/dcmitype/"/>
    <ds:schemaRef ds:uri="http://schemas.microsoft.com/office/infopath/2007/PartnerControls"/>
    <ds:schemaRef ds:uri="71af3243-3dd4-4a8d-8c0d-dd76da1f02a5"/>
    <ds:schemaRef ds:uri="http://www.w3.org/XML/1998/namespace"/>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679</TotalTime>
  <Words>485</Words>
  <Application>Microsoft Office PowerPoint</Application>
  <PresentationFormat>Custom</PresentationFormat>
  <Paragraphs>53</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Project Title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DELL</cp:lastModifiedBy>
  <cp:revision>103</cp:revision>
  <dcterms:created xsi:type="dcterms:W3CDTF">2021-07-11T13:13:15Z</dcterms:created>
  <dcterms:modified xsi:type="dcterms:W3CDTF">2026-09-11T16:51:39Z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